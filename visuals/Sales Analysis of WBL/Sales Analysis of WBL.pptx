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4308F-E890-3BC3-ADA8-DBBFE20CC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3635FD-5B43-BB0A-998E-95051BBDE9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0A22E-3DDA-A184-3759-F3C0F83A1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5A73-975F-428A-A4D5-0B8C24C5D5AF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114B3-713B-0DD9-FB24-A19888BDE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1F790-022C-E3D9-CC64-3A7DD0C90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F9ED-CD2D-4049-A357-933B1C190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320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9F9E-DDF9-3BAC-A72B-10D5DB20A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8C732-2668-3A76-F66C-6B401F0D1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293D1-7198-57BC-50D6-D4FB3A602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5A73-975F-428A-A4D5-0B8C24C5D5AF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887E6-6E1A-96FC-CBC3-E07B3E90E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9805D-5E69-E1B8-52B5-764B14DFF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F9ED-CD2D-4049-A357-933B1C190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24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A18E0-8AA3-A922-8CA4-E3A62188E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DBB9D8-88A1-1C57-68A6-6837C75BA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CBE60-C7D4-6BCC-C38B-41AAD7368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5A73-975F-428A-A4D5-0B8C24C5D5AF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B1CE3-2D45-1D69-5D69-A3C269D23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7C2BB-731A-D89B-8469-38E996166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F9ED-CD2D-4049-A357-933B1C190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85ED7-AF16-176A-8F1B-0056487E0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88687-747A-288C-6712-89372949BE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B9442A-32EE-CE05-2239-32BF8F574B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716C8-1D1E-A541-86B1-81DF15AFB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5A73-975F-428A-A4D5-0B8C24C5D5AF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37F38E-AA07-D604-B48D-845FC33E2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8D2B1-ED89-05E1-4093-DBBA20B0D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F9ED-CD2D-4049-A357-933B1C190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65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FCE02-A22A-3BA1-87D5-71C3D569E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DA55D-0CCF-52B4-006E-6555482F8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90307-1AB3-E85E-7897-3174533F6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93AB05-537E-2C26-430F-782E21AE7A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A28AD3-05A8-F730-2682-75184D0740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6A0881-BC84-3CE9-F717-9C7C424DF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5A73-975F-428A-A4D5-0B8C24C5D5AF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3AB495-7AAE-A6C0-C098-5A3209D05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067B7-69A5-5314-1BD5-E553B1C6F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F9ED-CD2D-4049-A357-933B1C190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680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7F65A-DE15-D448-0344-0F7713975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DC73DA-5D8E-EFF4-B272-649F25427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5A73-975F-428A-A4D5-0B8C24C5D5AF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6EC3F4-75DB-D806-A392-93B1470E4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745BC6-44E4-5807-98EE-E1EDA7ED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F9ED-CD2D-4049-A357-933B1C190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241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7D4AF1-B759-5DA3-2E66-C06B9821F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5A73-975F-428A-A4D5-0B8C24C5D5AF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B68B05-3DA6-FCA0-1C1C-CE8178853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F2AAC-3849-AFB3-B3C7-40409322B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F9ED-CD2D-4049-A357-933B1C190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580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92C4D-0EF1-0321-ACBF-8D23A9340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9AB8D-A54B-4A3C-619F-1539FA1BC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4285B-0038-8D4F-B204-0AAC2BBDE6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50775-D3E4-8DB4-251F-EED7FE53F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5A73-975F-428A-A4D5-0B8C24C5D5AF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65B431-D481-3555-1D36-6DA73433D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67E33-E4D6-B64B-5D90-B6CDEE31A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F9ED-CD2D-4049-A357-933B1C190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113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513E0-6E9E-466E-A5B0-6825C11B5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6AA3FB-140D-472C-4881-1AD144F4B7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A6C593-E72D-130E-55B2-108C25643B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35CFF-2B9D-786E-014A-B261CBD31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5A73-975F-428A-A4D5-0B8C24C5D5AF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1FF00-4EC4-449A-60C3-FA72664E8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574D1-A405-7A44-D23C-F627C4796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F9ED-CD2D-4049-A357-933B1C190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35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6FDEF-C3DA-4D67-6994-4A94DC516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1EAC82-8E0B-E164-437D-52E0B611B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A2C1B-0179-6EDB-1B93-9D5EF7AE5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5A73-975F-428A-A4D5-0B8C24C5D5AF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0206B-40A0-012C-7545-EF747809A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6B14C-69D2-0E69-7D44-5816ACB1F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F9ED-CD2D-4049-A357-933B1C190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295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87573A-5083-153A-6409-E686F44DA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107A7-2BF3-B8B2-9A55-63C3C39EB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E48EB-AF3E-E15D-3E68-1BF4E9DB0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95A73-975F-428A-A4D5-0B8C24C5D5AF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0E69C-6ABC-657C-646E-F9C0AF6E6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564FA-8028-D93F-D9A7-19B82EBFE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F9ED-CD2D-4049-A357-933B1C190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157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5EF911-5B18-18B1-212E-7E8AD8F9A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F1AC2-C5C6-6D82-F350-04A7B5CA9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FA35D-E5A5-D61C-A489-6A5831DD5A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495A73-975F-428A-A4D5-0B8C24C5D5AF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DCA6D-9E1F-9693-2F55-17EE0D21F5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EE7F7-5FEE-D8D6-3CBF-BBA807A36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43F9ED-CD2D-4049-A357-933B1C190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693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15478-E13D-1D91-B919-F7B6ABCE21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Sales Analysis of Wine, Beer, and Liquor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3015EC-5E18-DCFE-0B84-D831F306FB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Retail + Warehouse Sales Breakdown | </a:t>
            </a:r>
            <a:r>
              <a:rPr lang="en-US" b="1" dirty="0"/>
              <a:t>SQL + Excel</a:t>
            </a:r>
          </a:p>
          <a:p>
            <a:r>
              <a:rPr lang="en-US" dirty="0"/>
              <a:t>By: Drake Soltez</a:t>
            </a:r>
          </a:p>
        </p:txBody>
      </p:sp>
    </p:spTree>
    <p:extLst>
      <p:ext uri="{BB962C8B-B14F-4D97-AF65-F5344CB8AC3E}">
        <p14:creationId xmlns:p14="http://schemas.microsoft.com/office/powerpoint/2010/main" val="329001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23842-9E76-CA0B-8668-4F5ADEB7B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– The Beginning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11E9B-F5F7-E67B-31FD-670828C02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1. Handling a Corrupted TSV File</a:t>
            </a:r>
          </a:p>
          <a:p>
            <a:r>
              <a:rPr lang="en-US" sz="2200" dirty="0"/>
              <a:t>Original dataset was a TSV exported from Excel, which introduced:</a:t>
            </a:r>
          </a:p>
          <a:p>
            <a:pPr lvl="1"/>
            <a:r>
              <a:rPr lang="en-US" sz="2200" dirty="0"/>
              <a:t>BOM characters</a:t>
            </a:r>
          </a:p>
          <a:p>
            <a:pPr lvl="1"/>
            <a:r>
              <a:rPr lang="en-US" sz="2200" dirty="0"/>
              <a:t>Mixed delimiters</a:t>
            </a:r>
          </a:p>
          <a:p>
            <a:pPr lvl="1"/>
            <a:r>
              <a:rPr lang="en-US" sz="2200" dirty="0"/>
              <a:t>Hidden tabs and stray characters</a:t>
            </a:r>
          </a:p>
          <a:p>
            <a:pPr lvl="1"/>
            <a:r>
              <a:rPr lang="en-US" sz="2200" dirty="0"/>
              <a:t>Risk of row truncation</a:t>
            </a:r>
          </a:p>
          <a:p>
            <a:r>
              <a:rPr lang="en-US" sz="3000" b="1" dirty="0"/>
              <a:t>2. Creating a Raw Staging Table</a:t>
            </a:r>
          </a:p>
          <a:p>
            <a:r>
              <a:rPr lang="en-US" sz="2200" dirty="0"/>
              <a:t>Built a table where every column is VARCHAR</a:t>
            </a:r>
          </a:p>
          <a:p>
            <a:r>
              <a:rPr lang="en-US" sz="2200" dirty="0"/>
              <a:t>Purpose:</a:t>
            </a:r>
          </a:p>
          <a:p>
            <a:r>
              <a:rPr lang="en-US" sz="2200" dirty="0"/>
              <a:t>Accept messy, inconsistent data safely</a:t>
            </a:r>
          </a:p>
          <a:p>
            <a:r>
              <a:rPr lang="en-US" sz="2200" dirty="0"/>
              <a:t>Avoid type‑conversion errors during import</a:t>
            </a:r>
          </a:p>
          <a:p>
            <a:r>
              <a:rPr lang="en-US" sz="2200" dirty="0"/>
              <a:t>Preserve the raw file exactly as‑is</a:t>
            </a:r>
          </a:p>
        </p:txBody>
      </p:sp>
    </p:spTree>
    <p:extLst>
      <p:ext uri="{BB962C8B-B14F-4D97-AF65-F5344CB8AC3E}">
        <p14:creationId xmlns:p14="http://schemas.microsoft.com/office/powerpoint/2010/main" val="2368124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40AF2-B7DD-1EFA-9172-2426A8B78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EC696-539D-958A-B563-DE56ED524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3. Secure File Loading via </a:t>
            </a:r>
            <a:r>
              <a:rPr lang="en-US" b="1" dirty="0" err="1"/>
              <a:t>ProgramData</a:t>
            </a:r>
            <a:endParaRPr lang="en-US" b="1" dirty="0"/>
          </a:p>
          <a:p>
            <a:r>
              <a:rPr lang="en-US" sz="2000" dirty="0"/>
              <a:t>MySQL only loads files from: C:\ProgramData\MySQL\MySQL Server 8.0\Uploads</a:t>
            </a:r>
          </a:p>
          <a:p>
            <a:r>
              <a:rPr lang="en-US" sz="2000" dirty="0"/>
              <a:t>This is a very important step because this is the only place MySQL will read the file for datasets that are directly uploaded through the table.</a:t>
            </a:r>
          </a:p>
          <a:p>
            <a:r>
              <a:rPr lang="en-US" sz="2000" dirty="0"/>
              <a:t>Used LOAD DATA INFILE to ingest the dataset safely</a:t>
            </a:r>
          </a:p>
          <a:p>
            <a:r>
              <a:rPr lang="en-US" b="1" dirty="0"/>
              <a:t>4. Building a Cleaning VIEW</a:t>
            </a:r>
          </a:p>
          <a:p>
            <a:r>
              <a:rPr lang="en-US" sz="2000" dirty="0"/>
              <a:t>Removed BOM characters</a:t>
            </a:r>
          </a:p>
          <a:p>
            <a:r>
              <a:rPr lang="en-US" sz="2000" dirty="0"/>
              <a:t>Strip stray characters from numeric fields</a:t>
            </a:r>
          </a:p>
          <a:p>
            <a:r>
              <a:rPr lang="en-US" sz="2000" dirty="0"/>
              <a:t>Convert text → DECIMAL; Convert year/month → INT</a:t>
            </a:r>
          </a:p>
          <a:p>
            <a:r>
              <a:rPr lang="en-US" sz="2000" dirty="0"/>
              <a:t>Standardize item types</a:t>
            </a:r>
          </a:p>
          <a:p>
            <a:r>
              <a:rPr lang="en-US" sz="3000" b="1" dirty="0"/>
              <a:t>5. Materializing the Final Clean Table</a:t>
            </a:r>
          </a:p>
          <a:p>
            <a:r>
              <a:rPr lang="en-US" sz="2000" dirty="0"/>
              <a:t>Created a permanent, analysis‑ready table</a:t>
            </a:r>
          </a:p>
          <a:p>
            <a:r>
              <a:rPr lang="en-US" sz="2000" dirty="0"/>
              <a:t>Based entirely on the cleaned VIEW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26329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9C31C-4AF2-8491-9B00-479CAD10F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7BD3F-C77E-23D1-C40A-EA9CF16D2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analytical questions in this project all build on one another.</a:t>
            </a:r>
            <a:br>
              <a:rPr lang="en-US" sz="2400" dirty="0"/>
            </a:br>
            <a:r>
              <a:rPr lang="en-US" sz="2400" dirty="0"/>
              <a:t>I began with a broad question:</a:t>
            </a:r>
          </a:p>
          <a:p>
            <a:r>
              <a:rPr lang="en-US" sz="2400" dirty="0"/>
              <a:t>“What were the total sales for each item type?”</a:t>
            </a:r>
          </a:p>
          <a:p>
            <a:r>
              <a:rPr lang="en-US" sz="2400" dirty="0"/>
              <a:t>Answering that naturally led me deeper into the dataset:</a:t>
            </a:r>
          </a:p>
          <a:p>
            <a:r>
              <a:rPr lang="en-US" sz="2400" dirty="0"/>
              <a:t>I broke the totals down by individual item type (Beer, Wine, Liquor)</a:t>
            </a:r>
          </a:p>
          <a:p>
            <a:r>
              <a:rPr lang="en-US" sz="2400" dirty="0"/>
              <a:t>I separated each category into retail sales and warehouse sales</a:t>
            </a:r>
          </a:p>
          <a:p>
            <a:r>
              <a:rPr lang="en-US" sz="2400" dirty="0"/>
              <a:t>I compared retail vs. warehouse performance to understand channel behavior</a:t>
            </a:r>
          </a:p>
          <a:p>
            <a:r>
              <a:rPr lang="en-US" sz="2400" dirty="0"/>
              <a:t>Finally, I combined both channels to calculate total sales per item type</a:t>
            </a:r>
          </a:p>
        </p:txBody>
      </p:sp>
    </p:spTree>
    <p:extLst>
      <p:ext uri="{BB962C8B-B14F-4D97-AF65-F5344CB8AC3E}">
        <p14:creationId xmlns:p14="http://schemas.microsoft.com/office/powerpoint/2010/main" val="1279098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0DD8A-3A69-CF52-402A-88E02FD59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39" y="33670"/>
            <a:ext cx="11877039" cy="995680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Retail Sales of each Category</a:t>
            </a:r>
          </a:p>
        </p:txBody>
      </p:sp>
      <p:pic>
        <p:nvPicPr>
          <p:cNvPr id="5" name="Content Placeholder 4" descr="The image displays a data table with two columns: 'Item Type' showing 'beer' and 'Sales' listing the number '567,230'.&#10;&#10;AI-generated content may be incorrect.">
            <a:extLst>
              <a:ext uri="{FF2B5EF4-FFF2-40B4-BE49-F238E27FC236}">
                <a16:creationId xmlns:a16="http://schemas.microsoft.com/office/drawing/2014/main" id="{4C6E0473-DCD2-648B-77E5-2C6379AE46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05" y="1192848"/>
            <a:ext cx="3719895" cy="995680"/>
          </a:xfrm>
          <a:prstGeom prst="rect">
            <a:avLst/>
          </a:prstGeom>
        </p:spPr>
      </p:pic>
      <p:pic>
        <p:nvPicPr>
          <p:cNvPr id="7" name="Picture 6" descr="The diagram represents a bar chart showing beer sales in various quantities, ranging from 0 to 600,000 units.&#10;&#10;AI-generated content may be incorrect.">
            <a:extLst>
              <a:ext uri="{FF2B5EF4-FFF2-40B4-BE49-F238E27FC236}">
                <a16:creationId xmlns:a16="http://schemas.microsoft.com/office/drawing/2014/main" id="{85F22EDC-070C-542C-7B4E-E050EDB52F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04" y="2436002"/>
            <a:ext cx="3719895" cy="2743227"/>
          </a:xfrm>
          <a:prstGeom prst="rect">
            <a:avLst/>
          </a:prstGeom>
        </p:spPr>
      </p:pic>
      <p:pic>
        <p:nvPicPr>
          <p:cNvPr id="9" name="Picture 8" descr="The diagram displays a bar chart depicting the annual sales figures for liquor, ranging from $0 to $900,000.&#10;&#10;AI-generated content may be incorrect.">
            <a:extLst>
              <a:ext uri="{FF2B5EF4-FFF2-40B4-BE49-F238E27FC236}">
                <a16:creationId xmlns:a16="http://schemas.microsoft.com/office/drawing/2014/main" id="{53958894-B9C4-D804-3A49-C54321CAB3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221" y="2436002"/>
            <a:ext cx="3921782" cy="27432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8937AE-5F31-3FBB-C3BF-B4628E98F2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221" y="1192846"/>
            <a:ext cx="3921781" cy="995680"/>
          </a:xfrm>
          <a:prstGeom prst="rect">
            <a:avLst/>
          </a:prstGeom>
        </p:spPr>
      </p:pic>
      <p:pic>
        <p:nvPicPr>
          <p:cNvPr id="13" name="Picture 12" descr="Wine&#10;&#10;AI-generated content may be incorrect.">
            <a:extLst>
              <a:ext uri="{FF2B5EF4-FFF2-40B4-BE49-F238E27FC236}">
                <a16:creationId xmlns:a16="http://schemas.microsoft.com/office/drawing/2014/main" id="{20BC4ACD-1AF0-7543-A97C-560B4275AF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1234" y="1192847"/>
            <a:ext cx="3596661" cy="995679"/>
          </a:xfrm>
          <a:prstGeom prst="rect">
            <a:avLst/>
          </a:prstGeom>
        </p:spPr>
      </p:pic>
      <p:pic>
        <p:nvPicPr>
          <p:cNvPr id="15" name="Picture 14" descr="The diagram represents a bar chart showing retail wine sales, with the quantities ranging from 0 to 800,000 units.&#10;&#10;AI-generated content may be incorrect.">
            <a:extLst>
              <a:ext uri="{FF2B5EF4-FFF2-40B4-BE49-F238E27FC236}">
                <a16:creationId xmlns:a16="http://schemas.microsoft.com/office/drawing/2014/main" id="{6B136F25-C2BE-EF0C-2767-DF30FBE935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599" y="2436001"/>
            <a:ext cx="3596660" cy="2743227"/>
          </a:xfrm>
          <a:prstGeom prst="rect">
            <a:avLst/>
          </a:prstGeom>
        </p:spPr>
      </p:pic>
      <p:pic>
        <p:nvPicPr>
          <p:cNvPr id="17" name="Picture 16" descr="The diagram is a SQL query that calculates the total retail sales of beer, grouped by item type, and ordered in descending order.&#10;&#10;AI-generated content may be incorrect.">
            <a:extLst>
              <a:ext uri="{FF2B5EF4-FFF2-40B4-BE49-F238E27FC236}">
                <a16:creationId xmlns:a16="http://schemas.microsoft.com/office/drawing/2014/main" id="{04CBCBC1-30D4-406E-4AF6-F3CB5280E9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04" y="5291889"/>
            <a:ext cx="3445576" cy="141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124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32126-01D8-0720-E1F8-A34FB7268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1"/>
            <a:ext cx="10845800" cy="1070200"/>
          </a:xfrm>
        </p:spPr>
        <p:txBody>
          <a:bodyPr>
            <a:noAutofit/>
          </a:bodyPr>
          <a:lstStyle/>
          <a:p>
            <a:r>
              <a:rPr lang="en-US" sz="5500" b="1" dirty="0"/>
              <a:t>Warehouse Sales of each Category</a:t>
            </a:r>
          </a:p>
        </p:txBody>
      </p:sp>
      <p:pic>
        <p:nvPicPr>
          <p:cNvPr id="5" name="Content Placeholder 4" descr="6,524,064.&#10;&#10;AI-generated content may be incorrect.">
            <a:extLst>
              <a:ext uri="{FF2B5EF4-FFF2-40B4-BE49-F238E27FC236}">
                <a16:creationId xmlns:a16="http://schemas.microsoft.com/office/drawing/2014/main" id="{6F12C24F-6713-4CF4-F386-3FACE64AB1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30" y="1170381"/>
            <a:ext cx="3321670" cy="7355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B386EE-FB98-4F31-782C-E125508C04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2489" y="1170380"/>
            <a:ext cx="3646475" cy="735555"/>
          </a:xfrm>
          <a:prstGeom prst="rect">
            <a:avLst/>
          </a:prstGeom>
        </p:spPr>
      </p:pic>
      <p:pic>
        <p:nvPicPr>
          <p:cNvPr id="9" name="Picture 8" descr="The image displays a data table with wine as the item type, and it shows a sales figure of 1,155,486 units.&#10;&#10;AI-generated content may be incorrect.">
            <a:extLst>
              <a:ext uri="{FF2B5EF4-FFF2-40B4-BE49-F238E27FC236}">
                <a16:creationId xmlns:a16="http://schemas.microsoft.com/office/drawing/2014/main" id="{9549D08F-1588-0F05-3BAF-DC76A77B0F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7512" y="1170379"/>
            <a:ext cx="3699968" cy="735555"/>
          </a:xfrm>
          <a:prstGeom prst="rect">
            <a:avLst/>
          </a:prstGeom>
        </p:spPr>
      </p:pic>
      <p:pic>
        <p:nvPicPr>
          <p:cNvPr id="15" name="Picture 14" descr="The image displays a bar chart illustrating the sales figures for beer, with the bars ranging from 0 to 7 million units.&#10;&#10;AI-generated content may be incorrect.">
            <a:extLst>
              <a:ext uri="{FF2B5EF4-FFF2-40B4-BE49-F238E27FC236}">
                <a16:creationId xmlns:a16="http://schemas.microsoft.com/office/drawing/2014/main" id="{3B2A9C34-62AF-422B-6393-DB4E773972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30" y="2208838"/>
            <a:ext cx="3512086" cy="2743227"/>
          </a:xfrm>
          <a:prstGeom prst="rect">
            <a:avLst/>
          </a:prstGeom>
        </p:spPr>
      </p:pic>
      <p:pic>
        <p:nvPicPr>
          <p:cNvPr id="17" name="Picture 16" descr="The diagram shows a bar chart depicting a descending trend in liquor sales, starting at 100,000 units and decreasing down to 0.&#10;&#10;AI-generated content may be incorrect.">
            <a:extLst>
              <a:ext uri="{FF2B5EF4-FFF2-40B4-BE49-F238E27FC236}">
                <a16:creationId xmlns:a16="http://schemas.microsoft.com/office/drawing/2014/main" id="{DBE15032-C11A-8FBE-C8A1-D4BCA82742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9217" y="2208838"/>
            <a:ext cx="3879494" cy="2743227"/>
          </a:xfrm>
          <a:prstGeom prst="rect">
            <a:avLst/>
          </a:prstGeom>
        </p:spPr>
      </p:pic>
      <p:pic>
        <p:nvPicPr>
          <p:cNvPr id="19" name="Picture 18" descr="The image is a bar chart displaying wine sales figures, with the highest being 1,400,000 and the lowest at 0.&#10;&#10;AI-generated content may be incorrect.">
            <a:extLst>
              <a:ext uri="{FF2B5EF4-FFF2-40B4-BE49-F238E27FC236}">
                <a16:creationId xmlns:a16="http://schemas.microsoft.com/office/drawing/2014/main" id="{BC86839D-E131-186B-468C-1964C29AC0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7512" y="2208837"/>
            <a:ext cx="4053884" cy="2743227"/>
          </a:xfrm>
          <a:prstGeom prst="rect">
            <a:avLst/>
          </a:prstGeom>
        </p:spPr>
      </p:pic>
      <p:pic>
        <p:nvPicPr>
          <p:cNvPr id="25" name="Picture 24" descr="The diagram displays a SQL query to calculate the total warehouse sales of beer.&#10;&#10;AI-generated content may be incorrect.">
            <a:extLst>
              <a:ext uri="{FF2B5EF4-FFF2-40B4-BE49-F238E27FC236}">
                <a16:creationId xmlns:a16="http://schemas.microsoft.com/office/drawing/2014/main" id="{92365FD5-2BAD-C280-7597-EE9235AD9A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30" y="5074626"/>
            <a:ext cx="3448586" cy="169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253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74954-58D4-73E6-30A6-35291AB89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44879"/>
          </a:xfrm>
        </p:spPr>
        <p:txBody>
          <a:bodyPr>
            <a:noAutofit/>
          </a:bodyPr>
          <a:lstStyle/>
          <a:p>
            <a:r>
              <a:rPr lang="en-US" b="1" dirty="0"/>
              <a:t>Retail + Warehouse Sales of each Category</a:t>
            </a:r>
          </a:p>
        </p:txBody>
      </p:sp>
      <p:pic>
        <p:nvPicPr>
          <p:cNvPr id="9" name="Picture 8" descr="The diagram shows sales figures for three types of beverages (beer, liquor, and wine) across various sales volume ranges, starting from 0 to 7,000,000 units.&#10;&#10;AI-generated content may be incorrect.">
            <a:extLst>
              <a:ext uri="{FF2B5EF4-FFF2-40B4-BE49-F238E27FC236}">
                <a16:creationId xmlns:a16="http://schemas.microsoft.com/office/drawing/2014/main" id="{DC106422-7B27-46D2-D0FA-CB2909EF4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058" y="2408559"/>
            <a:ext cx="5394982" cy="3236990"/>
          </a:xfrm>
          <a:prstGeom prst="rect">
            <a:avLst/>
          </a:prstGeom>
        </p:spPr>
      </p:pic>
      <p:pic>
        <p:nvPicPr>
          <p:cNvPr id="17" name="Content Placeholder 16" descr="The image displays a bar chart illustrating retail sales figures for wine, liquor, and beer, with wine having the highest sales at 900,000 and beer the lowest at 100,000.&#10;&#10;AI-generated content may be incorrect.">
            <a:extLst>
              <a:ext uri="{FF2B5EF4-FFF2-40B4-BE49-F238E27FC236}">
                <a16:creationId xmlns:a16="http://schemas.microsoft.com/office/drawing/2014/main" id="{F0A554B8-C61F-48A0-ED16-1D9346B2CE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458" y="2408559"/>
            <a:ext cx="5394982" cy="3236990"/>
          </a:xfrm>
          <a:prstGeom prst="rect">
            <a:avLst/>
          </a:prstGeom>
        </p:spPr>
      </p:pic>
      <p:pic>
        <p:nvPicPr>
          <p:cNvPr id="21" name="Picture 20" descr="The image displays a table with various alcoholic beverages and their respective sales figures.&#10;&#10;AI-generated content may be incorrect.">
            <a:extLst>
              <a:ext uri="{FF2B5EF4-FFF2-40B4-BE49-F238E27FC236}">
                <a16:creationId xmlns:a16="http://schemas.microsoft.com/office/drawing/2014/main" id="{B396A5BE-BF01-3E1F-DC2A-C964E08510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458" y="775237"/>
            <a:ext cx="3962422" cy="143517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53ED328-75EE-33C4-B857-038219B23C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058" y="775237"/>
            <a:ext cx="3962421" cy="1449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103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46986-B5EB-7A64-3B3D-781E41BF4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868964"/>
          </a:xfrm>
        </p:spPr>
        <p:txBody>
          <a:bodyPr/>
          <a:lstStyle/>
          <a:p>
            <a:r>
              <a:rPr lang="en-US" dirty="0"/>
              <a:t>Total Sales by Item Type</a:t>
            </a:r>
          </a:p>
        </p:txBody>
      </p:sp>
      <p:pic>
        <p:nvPicPr>
          <p:cNvPr id="5" name="Content Placeholder 4" descr="The diagram shows a downward trend in total sales from 2017 to 2020 across wine, liquor, and beer categories, with sales starting at 8 million and dropping to zero.&#10;&#10;AI-generated content may be incorrect.">
            <a:extLst>
              <a:ext uri="{FF2B5EF4-FFF2-40B4-BE49-F238E27FC236}">
                <a16:creationId xmlns:a16="http://schemas.microsoft.com/office/drawing/2014/main" id="{D01BA989-E0CF-548C-C59E-8092EE46AB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80" y="3436831"/>
            <a:ext cx="4572044" cy="2743227"/>
          </a:xfrm>
          <a:prstGeom prst="rect">
            <a:avLst/>
          </a:prstGeom>
        </p:spPr>
      </p:pic>
      <p:pic>
        <p:nvPicPr>
          <p:cNvPr id="7" name="Picture 6" descr="The image shows a pie chart indicating that wine accounts for 19%, liquor for 72%, and beer for 9% of total sales from 2017 to 2020.&#10;&#10;AI-generated content may be incorrect.">
            <a:extLst>
              <a:ext uri="{FF2B5EF4-FFF2-40B4-BE49-F238E27FC236}">
                <a16:creationId xmlns:a16="http://schemas.microsoft.com/office/drawing/2014/main" id="{0F44F4EA-CA63-0245-CD6C-1B167DD43B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162" y="3429000"/>
            <a:ext cx="4587638" cy="2751058"/>
          </a:xfrm>
          <a:prstGeom prst="rect">
            <a:avLst/>
          </a:prstGeom>
        </p:spPr>
      </p:pic>
      <p:pic>
        <p:nvPicPr>
          <p:cNvPr id="9" name="Picture 8" descr="The image displays a table listing various alcoholic beverage categories with their respective total sales figures.&#10;&#10;AI-generated content may be incorrect.">
            <a:extLst>
              <a:ext uri="{FF2B5EF4-FFF2-40B4-BE49-F238E27FC236}">
                <a16:creationId xmlns:a16="http://schemas.microsoft.com/office/drawing/2014/main" id="{38153DD9-74C6-4ABC-CF22-6D46596503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550" y="1290605"/>
            <a:ext cx="4451289" cy="1869155"/>
          </a:xfrm>
          <a:prstGeom prst="rect">
            <a:avLst/>
          </a:prstGeom>
        </p:spPr>
      </p:pic>
      <p:pic>
        <p:nvPicPr>
          <p:cNvPr id="13" name="Picture 12" descr="The SQL query calculates the total sales for wine, beer, and liquor by summing retail and warehouse sales, grouped by item type and sorted in descending order.&#10;&#10;AI-generated content may be incorrect.">
            <a:extLst>
              <a:ext uri="{FF2B5EF4-FFF2-40B4-BE49-F238E27FC236}">
                <a16:creationId xmlns:a16="http://schemas.microsoft.com/office/drawing/2014/main" id="{03946E9B-FD65-5C62-B99A-BFE7D470DE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562" y="1021770"/>
            <a:ext cx="5242958" cy="213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297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66D54-FC04-90B5-C92D-72FD3C70A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732E7-6ED4-8188-D018-320AA006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400" dirty="0"/>
              <a:t>Beer overwhelmingly dominates warehouse sales</a:t>
            </a:r>
          </a:p>
          <a:p>
            <a:r>
              <a:rPr lang="en-US" sz="3400" dirty="0"/>
              <a:t>Liquor leads retail sales despite low warehouse volume</a:t>
            </a:r>
          </a:p>
          <a:p>
            <a:r>
              <a:rPr lang="en-US" sz="3400" dirty="0"/>
              <a:t>Wine sits in the middle for both channels</a:t>
            </a:r>
          </a:p>
          <a:p>
            <a:r>
              <a:rPr lang="en-US" sz="3400" dirty="0"/>
              <a:t>Total sales are driven primarily by warehouse volume</a:t>
            </a:r>
          </a:p>
          <a:p>
            <a:r>
              <a:rPr lang="en-US" sz="3400" dirty="0"/>
              <a:t>Retail and warehouse channels behave very differently across categories</a:t>
            </a:r>
          </a:p>
        </p:txBody>
      </p:sp>
    </p:spTree>
    <p:extLst>
      <p:ext uri="{BB962C8B-B14F-4D97-AF65-F5344CB8AC3E}">
        <p14:creationId xmlns:p14="http://schemas.microsoft.com/office/powerpoint/2010/main" val="1716368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29FA7-45B5-FDEA-A8D4-F351BF609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I’ve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F09A7-B66A-B4A2-7CEF-23DFF4A3E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How to safely ingest TSV/CSV files using LOAD DATA INFILE</a:t>
            </a:r>
          </a:p>
          <a:p>
            <a:r>
              <a:rPr lang="en-US" sz="3200" dirty="0"/>
              <a:t>How to build a raw → staging → cleaned pipeline</a:t>
            </a:r>
          </a:p>
          <a:p>
            <a:r>
              <a:rPr lang="en-US" sz="3200" dirty="0"/>
              <a:t>How to handle BOM characters, delimiters, and numeric inconsistencies</a:t>
            </a:r>
          </a:p>
          <a:p>
            <a:r>
              <a:rPr lang="en-US" sz="3200" dirty="0"/>
              <a:t>How to validate data before analysis</a:t>
            </a:r>
          </a:p>
          <a:p>
            <a:r>
              <a:rPr lang="en-US" sz="3200" dirty="0"/>
              <a:t>Beer is a dominating force throughout the beer industry</a:t>
            </a:r>
          </a:p>
        </p:txBody>
      </p:sp>
    </p:spTree>
    <p:extLst>
      <p:ext uri="{BB962C8B-B14F-4D97-AF65-F5344CB8AC3E}">
        <p14:creationId xmlns:p14="http://schemas.microsoft.com/office/powerpoint/2010/main" val="1299586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74091-7A55-6957-E6A9-27ACD6B1F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Final Deliverables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F5F46-17EB-9483-6E40-36A552D7F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Cleaned SQL dataset</a:t>
            </a:r>
          </a:p>
          <a:p>
            <a:r>
              <a:rPr lang="en-US" sz="3600" dirty="0"/>
              <a:t>10‑sheet Excel workbook</a:t>
            </a:r>
          </a:p>
          <a:p>
            <a:r>
              <a:rPr lang="en-US" sz="3600" dirty="0"/>
              <a:t>Individual CSV exports</a:t>
            </a:r>
          </a:p>
          <a:p>
            <a:r>
              <a:rPr lang="en-US" sz="3600" dirty="0"/>
              <a:t>PowerPoint case study</a:t>
            </a:r>
          </a:p>
          <a:p>
            <a:r>
              <a:rPr lang="en-US" sz="3600" dirty="0"/>
              <a:t>Reproducible SQL pipeline</a:t>
            </a:r>
          </a:p>
        </p:txBody>
      </p:sp>
    </p:spTree>
    <p:extLst>
      <p:ext uri="{BB962C8B-B14F-4D97-AF65-F5344CB8AC3E}">
        <p14:creationId xmlns:p14="http://schemas.microsoft.com/office/powerpoint/2010/main" val="3058987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FE1B8-856A-B9A3-63C0-FF239A055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27312"/>
            <a:ext cx="10515600" cy="16033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000" dirty="0"/>
              <a:t>Thank you and questions are welcomed!</a:t>
            </a:r>
          </a:p>
        </p:txBody>
      </p:sp>
    </p:spTree>
    <p:extLst>
      <p:ext uri="{BB962C8B-B14F-4D97-AF65-F5344CB8AC3E}">
        <p14:creationId xmlns:p14="http://schemas.microsoft.com/office/powerpoint/2010/main" val="1579452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439</Words>
  <Application>Microsoft Office PowerPoint</Application>
  <PresentationFormat>Widescreen</PresentationFormat>
  <Paragraphs>60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Sales Analysis of Wine, Beer, and Liquor</vt:lpstr>
      <vt:lpstr>Workflow – The Beginning Steps</vt:lpstr>
      <vt:lpstr>Workflow</vt:lpstr>
      <vt:lpstr>Analysis</vt:lpstr>
      <vt:lpstr>Retail Sales of each Category</vt:lpstr>
      <vt:lpstr>Warehouse Sales of each Category</vt:lpstr>
      <vt:lpstr>Retail + Warehouse Sales of each Category</vt:lpstr>
      <vt:lpstr>Total Sales by Item Type</vt:lpstr>
      <vt:lpstr>Key Insights</vt:lpstr>
      <vt:lpstr>What I’ve Learned</vt:lpstr>
      <vt:lpstr>Final Deliverables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Drake Soltez</dc:creator>
  <cp:lastModifiedBy>Drake Soltez</cp:lastModifiedBy>
  <cp:revision>3</cp:revision>
  <dcterms:created xsi:type="dcterms:W3CDTF">2026-02-16T02:46:47Z</dcterms:created>
  <dcterms:modified xsi:type="dcterms:W3CDTF">2026-02-16T04:42:01Z</dcterms:modified>
</cp:coreProperties>
</file>